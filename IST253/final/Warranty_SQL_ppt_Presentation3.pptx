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4" r:id="rId6"/>
    <p:sldId id="271" r:id="rId7"/>
    <p:sldId id="274" r:id="rId8"/>
    <p:sldId id="260" r:id="rId9"/>
    <p:sldId id="279" r:id="rId10"/>
    <p:sldId id="275" r:id="rId11"/>
    <p:sldId id="280" r:id="rId12"/>
    <p:sldId id="277" r:id="rId13"/>
    <p:sldId id="278" r:id="rId14"/>
    <p:sldId id="281" r:id="rId15"/>
    <p:sldId id="283" r:id="rId16"/>
    <p:sldId id="282" r:id="rId17"/>
    <p:sldId id="262" r:id="rId18"/>
    <p:sldId id="264" r:id="rId19"/>
    <p:sldId id="269" r:id="rId20"/>
  </p:sldIdLst>
  <p:sldSz cx="10160000" cy="7620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ke and Alicia Pozsony" initials="MaA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13" autoAdjust="0"/>
    <p:restoredTop sz="90845" autoAdjust="0"/>
  </p:normalViewPr>
  <p:slideViewPr>
    <p:cSldViewPr>
      <p:cViewPr varScale="1">
        <p:scale>
          <a:sx n="46" d="100"/>
          <a:sy n="46" d="100"/>
        </p:scale>
        <p:origin x="-120" y="-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6963"/>
            <a:ext cx="8636000" cy="16335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60274-275F-4BF0-A987-10B20E3274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A7534-248E-455A-A149-EC6C5C086E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02873-877A-4D71-A3F7-630111E370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200275"/>
            <a:ext cx="4241800" cy="4573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2200275"/>
            <a:ext cx="4241800" cy="4573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DBE7A-1685-49E8-9D26-1356943A1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CB62C2-929C-4D8D-8F83-506B8BE7E7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E0F27-4D26-479B-91C9-DB81A5DB9E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A2C64B-6C63-4B44-BCC6-8938A78DDD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77B5E4-2736-4510-9C6D-01C627A5BA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574B9-7E6C-420C-A84E-ED57CC4087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B375C-D303-4719-9E0D-3408482F4E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676275"/>
            <a:ext cx="2159000" cy="60975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676275"/>
            <a:ext cx="6324600" cy="6097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A8766-CEFC-47DF-B9A3-8AAA78FA9D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676275"/>
            <a:ext cx="8636000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200275"/>
            <a:ext cx="8636000" cy="457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942138"/>
            <a:ext cx="2117725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70275" y="6942138"/>
            <a:ext cx="3219450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80275" y="6942138"/>
            <a:ext cx="21193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69E8036-4A60-41D4-A826-256AE05D1DE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ctrTitle"/>
          </p:nvPr>
        </p:nvSpPr>
        <p:spPr>
          <a:xfrm>
            <a:off x="795338" y="2073275"/>
            <a:ext cx="8650287" cy="1931988"/>
          </a:xfrm>
        </p:spPr>
        <p:txBody>
          <a:bodyPr lIns="0" tIns="0" rIns="0" bIns="0" anchor="b"/>
          <a:lstStyle/>
          <a:p>
            <a:pPr algn="r">
              <a:lnSpc>
                <a:spcPct val="95000"/>
              </a:lnSpc>
            </a:pPr>
            <a:r>
              <a:rPr lang="en-US" sz="5000" b="1" dirty="0" smtClean="0">
                <a:solidFill>
                  <a:srgbClr val="FF8D3E"/>
                </a:solidFill>
                <a:latin typeface="Arial" pitchFamily="34" charset="0"/>
              </a:rPr>
              <a:t>Warranty </a:t>
            </a:r>
            <a:r>
              <a:rPr lang="en-US" sz="5000" b="1" dirty="0">
                <a:solidFill>
                  <a:srgbClr val="FF8D3E"/>
                </a:solidFill>
                <a:latin typeface="Arial" pitchFamily="34" charset="0"/>
              </a:rPr>
              <a:t>&amp; Diagnostic Service 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947738" y="4092575"/>
            <a:ext cx="8447087" cy="3070225"/>
          </a:xfrm>
        </p:spPr>
        <p:txBody>
          <a:bodyPr lIns="0" tIns="0" rIns="0" bIns="0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3100" dirty="0">
                <a:solidFill>
                  <a:srgbClr val="79766F"/>
                </a:solidFill>
                <a:latin typeface="Arial" pitchFamily="34" charset="0"/>
              </a:rPr>
              <a:t>PRESENTATION </a:t>
            </a:r>
            <a:r>
              <a:rPr lang="en-US" sz="3100" dirty="0" smtClean="0">
                <a:solidFill>
                  <a:srgbClr val="79766F"/>
                </a:solidFill>
                <a:latin typeface="Arial" pitchFamily="34" charset="0"/>
              </a:rPr>
              <a:t>#3: </a:t>
            </a:r>
            <a:endParaRPr lang="en-US" dirty="0"/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3100" dirty="0">
                <a:solidFill>
                  <a:srgbClr val="79766F"/>
                </a:solidFill>
                <a:latin typeface="Arial" pitchFamily="34" charset="0"/>
              </a:rPr>
              <a:t>Database </a:t>
            </a:r>
            <a:r>
              <a:rPr lang="en-US" sz="3100" dirty="0" smtClean="0">
                <a:solidFill>
                  <a:srgbClr val="79766F"/>
                </a:solidFill>
                <a:latin typeface="Arial" pitchFamily="34" charset="0"/>
              </a:rPr>
              <a:t>Forms, Views &amp; SQL Presentation</a:t>
            </a:r>
            <a:endParaRPr lang="en-US" dirty="0"/>
          </a:p>
          <a:p>
            <a:pPr marL="4122738" algn="l">
              <a:lnSpc>
                <a:spcPct val="9500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Team Leader:		Josie </a:t>
            </a:r>
            <a:r>
              <a:rPr lang="en-US" sz="1600" dirty="0" err="1" smtClean="0">
                <a:solidFill>
                  <a:srgbClr val="79766F"/>
                </a:solidFill>
                <a:latin typeface="Arial" pitchFamily="34" charset="0"/>
              </a:rPr>
              <a:t>Pizzolato</a:t>
            </a:r>
            <a:endParaRPr lang="en-US" sz="1600" dirty="0" smtClean="0">
              <a:solidFill>
                <a:srgbClr val="79766F"/>
              </a:solidFill>
              <a:latin typeface="Arial" pitchFamily="34" charset="0"/>
            </a:endParaRPr>
          </a:p>
          <a:p>
            <a:pPr marL="4122738" algn="l">
              <a:lnSpc>
                <a:spcPct val="9500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Team Members:      	Farah </a:t>
            </a:r>
            <a:r>
              <a:rPr lang="en-US" sz="1600" dirty="0" err="1" smtClean="0">
                <a:solidFill>
                  <a:srgbClr val="79766F"/>
                </a:solidFill>
                <a:latin typeface="Arial" pitchFamily="34" charset="0"/>
              </a:rPr>
              <a:t>Ziwwar</a:t>
            </a:r>
            <a:endParaRPr lang="en-US" sz="1600" dirty="0" smtClean="0">
              <a:solidFill>
                <a:srgbClr val="79766F"/>
              </a:solidFill>
              <a:latin typeface="Arial" pitchFamily="34" charset="0"/>
            </a:endParaRPr>
          </a:p>
          <a:p>
            <a:pPr marL="6002338" algn="l">
              <a:lnSpc>
                <a:spcPct val="9500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	</a:t>
            </a:r>
            <a:r>
              <a:rPr lang="en-US" sz="1600" dirty="0" err="1" smtClean="0">
                <a:solidFill>
                  <a:srgbClr val="79766F"/>
                </a:solidFill>
                <a:latin typeface="Arial" pitchFamily="34" charset="0"/>
              </a:rPr>
              <a:t>Ferenc</a:t>
            </a:r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 </a:t>
            </a:r>
            <a:r>
              <a:rPr lang="en-US" sz="1600" dirty="0" err="1" smtClean="0">
                <a:solidFill>
                  <a:srgbClr val="79766F"/>
                </a:solidFill>
                <a:latin typeface="Arial" pitchFamily="34" charset="0"/>
              </a:rPr>
              <a:t>Junasz</a:t>
            </a:r>
            <a:endParaRPr lang="en-US" sz="1600" dirty="0" smtClean="0">
              <a:solidFill>
                <a:srgbClr val="79766F"/>
              </a:solidFill>
              <a:latin typeface="Arial" pitchFamily="34" charset="0"/>
            </a:endParaRPr>
          </a:p>
          <a:p>
            <a:pPr marL="6002338" algn="l"/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	Alicia </a:t>
            </a:r>
            <a:r>
              <a:rPr lang="en-US" sz="1600" dirty="0" err="1" smtClean="0">
                <a:solidFill>
                  <a:srgbClr val="79766F"/>
                </a:solidFill>
                <a:latin typeface="Arial" pitchFamily="34" charset="0"/>
              </a:rPr>
              <a:t>Pozsony</a:t>
            </a:r>
            <a:endParaRPr lang="en-US" sz="1600" dirty="0" smtClean="0">
              <a:solidFill>
                <a:srgbClr val="79766F"/>
              </a:solidFill>
              <a:latin typeface="Arial" pitchFamily="34" charset="0"/>
            </a:endParaRPr>
          </a:p>
          <a:p>
            <a:pPr marL="6002338" algn="l"/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	</a:t>
            </a:r>
            <a:r>
              <a:rPr lang="en-US" sz="1600" dirty="0" err="1" smtClean="0">
                <a:solidFill>
                  <a:srgbClr val="79766F"/>
                </a:solidFill>
                <a:latin typeface="Arial" pitchFamily="34" charset="0"/>
              </a:rPr>
              <a:t>Javan</a:t>
            </a:r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 Jones</a:t>
            </a:r>
          </a:p>
          <a:p>
            <a:pPr marL="6002338" algn="l"/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       Julian Taylor</a:t>
            </a:r>
          </a:p>
          <a:p>
            <a:pPr marL="6002338" algn="l"/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	Dave  Kay</a:t>
            </a:r>
          </a:p>
          <a:p>
            <a:pPr algn="r">
              <a:lnSpc>
                <a:spcPct val="95000"/>
              </a:lnSpc>
              <a:spcBef>
                <a:spcPct val="0"/>
              </a:spcBef>
            </a:pPr>
            <a:r>
              <a:rPr lang="en-US" sz="1600" dirty="0" smtClean="0">
                <a:solidFill>
                  <a:srgbClr val="79766F"/>
                </a:solidFill>
                <a:latin typeface="Arial" pitchFamily="34" charset="0"/>
              </a:rPr>
              <a:t> </a:t>
            </a:r>
            <a:endParaRPr lang="en-US" sz="1600" dirty="0">
              <a:solidFill>
                <a:srgbClr val="79766F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03250" y="5588000"/>
            <a:ext cx="9004300" cy="1068388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4000" b="1" dirty="0" smtClean="0">
                <a:solidFill>
                  <a:srgbClr val="FF8D3E"/>
                </a:solidFill>
                <a:latin typeface="Arial" pitchFamily="34" charset="0"/>
              </a:rPr>
              <a:t>Warranty &amp; Diagnostic ERD</a:t>
            </a:r>
            <a:endParaRPr lang="en-US" sz="4000" b="1" dirty="0">
              <a:solidFill>
                <a:srgbClr val="FF8D3E"/>
              </a:solidFill>
              <a:latin typeface="Arial" pitchFamily="34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704850" y="690563"/>
            <a:ext cx="8902700" cy="450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lvl="1" indent="-342900">
              <a:lnSpc>
                <a:spcPct val="95000"/>
              </a:lnSpc>
              <a:buClr>
                <a:srgbClr val="000000"/>
              </a:buClr>
              <a:buSzPct val="100000"/>
              <a:buFontTx/>
              <a:buChar char="•"/>
            </a:pPr>
            <a:r>
              <a:rPr lang="en-US" sz="3100">
                <a:solidFill>
                  <a:srgbClr val="000000"/>
                </a:solidFill>
                <a:latin typeface="Arial" pitchFamily="34" charset="0"/>
              </a:rPr>
              <a:t>ERD Diagram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7600" y="1219200"/>
            <a:ext cx="7695937" cy="4572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03250" y="5588000"/>
            <a:ext cx="9004300" cy="1068388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3600" b="1" dirty="0" smtClean="0">
                <a:solidFill>
                  <a:srgbClr val="FF8D3E"/>
                </a:solidFill>
                <a:latin typeface="Arial" pitchFamily="34" charset="0"/>
              </a:rPr>
              <a:t>Warranty </a:t>
            </a:r>
            <a:r>
              <a:rPr lang="en-US" sz="3600" b="1" dirty="0">
                <a:solidFill>
                  <a:srgbClr val="FF8D3E"/>
                </a:solidFill>
                <a:latin typeface="Arial" pitchFamily="34" charset="0"/>
              </a:rPr>
              <a:t>&amp; Diagnostic Introduction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04850" y="690563"/>
            <a:ext cx="8902700" cy="5716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lvl="1" indent="-342900">
              <a:lnSpc>
                <a:spcPct val="95000"/>
              </a:lnSpc>
              <a:buClr>
                <a:srgbClr val="000000"/>
              </a:buClr>
              <a:buSzPct val="100000"/>
            </a:pPr>
            <a:r>
              <a:rPr lang="en-US" sz="3100" dirty="0" smtClean="0">
                <a:solidFill>
                  <a:srgbClr val="000000"/>
                </a:solidFill>
                <a:latin typeface="Arial" pitchFamily="34" charset="0"/>
              </a:rPr>
              <a:t>Overview of Forms &amp; SQL Presentation</a:t>
            </a:r>
            <a:endParaRPr lang="en-US" dirty="0"/>
          </a:p>
          <a:p>
            <a:pPr lvl="1" indent="-342900">
              <a:lnSpc>
                <a:spcPct val="95000"/>
              </a:lnSpc>
              <a:buClr>
                <a:srgbClr val="000000"/>
              </a:buClr>
              <a:buSzPct val="100000"/>
              <a:buFontTx/>
              <a:buChar char="•"/>
            </a:pPr>
            <a:r>
              <a:rPr lang="en-US" sz="3100" dirty="0" smtClean="0">
                <a:solidFill>
                  <a:srgbClr val="000000"/>
                </a:solidFill>
                <a:latin typeface="Arial" pitchFamily="34" charset="0"/>
              </a:rPr>
              <a:t>After our Project Database was Created and Data Inserted, we:</a:t>
            </a:r>
          </a:p>
          <a:p>
            <a:pPr lvl="1" indent="-342900">
              <a:lnSpc>
                <a:spcPct val="95000"/>
              </a:lnSpc>
              <a:buClr>
                <a:srgbClr val="000000"/>
              </a:buClr>
              <a:buSzPct val="100000"/>
              <a:buFontTx/>
              <a:buChar char="•"/>
            </a:pPr>
            <a:endParaRPr lang="en-US" dirty="0"/>
          </a:p>
          <a:p>
            <a:pPr marL="857250" lvl="2" indent="-285750">
              <a:lnSpc>
                <a:spcPct val="95000"/>
              </a:lnSpc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</a:rPr>
              <a:t>1.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Planned </a:t>
            </a:r>
            <a:r>
              <a:rPr lang="en-US" sz="2700" b="1" dirty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the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allocation of work </a:t>
            </a:r>
            <a:r>
              <a:rPr lang="en-US" sz="2700" dirty="0" smtClean="0">
                <a:solidFill>
                  <a:srgbClr val="000000"/>
                </a:solidFill>
                <a:latin typeface="Arial" pitchFamily="34" charset="0"/>
              </a:rPr>
              <a:t>to create forms and SQL amongst our team members</a:t>
            </a:r>
            <a:endParaRPr lang="en-US" dirty="0"/>
          </a:p>
          <a:p>
            <a:pPr marL="857250" lvl="2" indent="-285750">
              <a:lnSpc>
                <a:spcPct val="95000"/>
              </a:lnSpc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</a:rPr>
              <a:t>2.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Designed &amp; Created the Forms </a:t>
            </a:r>
            <a:r>
              <a:rPr lang="en-US" sz="2700" dirty="0" smtClean="0">
                <a:solidFill>
                  <a:srgbClr val="000000"/>
                </a:solidFill>
                <a:latin typeface="Arial" pitchFamily="34" charset="0"/>
              </a:rPr>
              <a:t>that would connect to our database</a:t>
            </a:r>
            <a:endParaRPr lang="en-US" dirty="0"/>
          </a:p>
          <a:p>
            <a:pPr marL="857250" lvl="2" indent="-285750">
              <a:lnSpc>
                <a:spcPct val="95000"/>
              </a:lnSpc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</a:rPr>
              <a:t>3.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Decided on and wrote the 10 SQL statements </a:t>
            </a:r>
            <a:r>
              <a:rPr lang="en-US" sz="2700" dirty="0" smtClean="0">
                <a:solidFill>
                  <a:srgbClr val="000000"/>
                </a:solidFill>
                <a:latin typeface="Arial" pitchFamily="34" charset="0"/>
              </a:rPr>
              <a:t>to meet the requirements</a:t>
            </a:r>
          </a:p>
          <a:p>
            <a:pPr marL="857250" lvl="2" indent="-285750">
              <a:lnSpc>
                <a:spcPct val="95000"/>
              </a:lnSpc>
              <a:buClr>
                <a:srgbClr val="000000"/>
              </a:buClr>
              <a:buSzPct val="80000"/>
              <a:buFont typeface="Courier New" pitchFamily="49" charset="0"/>
              <a:buChar char="o"/>
            </a:pPr>
            <a:r>
              <a:rPr lang="en-US" sz="2700" dirty="0" smtClean="0">
                <a:solidFill>
                  <a:srgbClr val="000000"/>
                </a:solidFill>
                <a:latin typeface="Arial" pitchFamily="34" charset="0"/>
              </a:rPr>
              <a:t>4. 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Executed the </a:t>
            </a:r>
            <a:r>
              <a:rPr lang="en-US" sz="2700" b="1" dirty="0" err="1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sql</a:t>
            </a:r>
            <a:r>
              <a:rPr lang="en-US" sz="2700" b="1" dirty="0" smtClean="0">
                <a:solidFill>
                  <a:srgbClr val="000000"/>
                </a:solidFill>
                <a:effectLst>
                  <a:outerShdw blurRad="50800" dist="50800" dir="5400000" algn="ctr" rotWithShape="0">
                    <a:srgbClr val="FFC000"/>
                  </a:outerShdw>
                </a:effectLst>
                <a:latin typeface="Arial" pitchFamily="34" charset="0"/>
              </a:rPr>
              <a:t> statements </a:t>
            </a:r>
            <a:r>
              <a:rPr lang="en-US" sz="2700" dirty="0" smtClean="0">
                <a:solidFill>
                  <a:srgbClr val="000000"/>
                </a:solidFill>
                <a:latin typeface="Arial" pitchFamily="34" charset="0"/>
              </a:rPr>
              <a:t>against the database to retrieve expected results using SQL Plus.</a:t>
            </a:r>
            <a:endParaRPr lang="en-US" dirty="0"/>
          </a:p>
          <a:p>
            <a:pPr>
              <a:lnSpc>
                <a:spcPct val="95000"/>
              </a:lnSpc>
              <a:buClr>
                <a:srgbClr val="000000"/>
              </a:buClr>
              <a:buSzPct val="80000"/>
              <a:buFont typeface="Courier New" pitchFamily="49" charset="0"/>
              <a:buNone/>
            </a:pPr>
            <a:endParaRPr lang="en-US" sz="3100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ctrTitle"/>
          </p:nvPr>
        </p:nvSpPr>
        <p:spPr>
          <a:xfrm>
            <a:off x="552450" y="5892800"/>
            <a:ext cx="9004300" cy="576263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3600" b="1" dirty="0" smtClean="0">
                <a:solidFill>
                  <a:srgbClr val="FF8D3E"/>
                </a:solidFill>
                <a:latin typeface="Arial" pitchFamily="34" charset="0"/>
              </a:rPr>
              <a:t>10 Queries were Designed </a:t>
            </a:r>
            <a:r>
              <a:rPr lang="en-US" sz="3600" b="1" dirty="0">
                <a:solidFill>
                  <a:srgbClr val="FF8D3E"/>
                </a:solidFill>
                <a:latin typeface="Arial" pitchFamily="34" charset="0"/>
              </a:rPr>
              <a:t>&amp; </a:t>
            </a:r>
            <a:r>
              <a:rPr lang="en-US" sz="3600" b="1" dirty="0" smtClean="0">
                <a:solidFill>
                  <a:srgbClr val="FF8D3E"/>
                </a:solidFill>
                <a:latin typeface="Arial" pitchFamily="34" charset="0"/>
              </a:rPr>
              <a:t>Written</a:t>
            </a:r>
            <a:endParaRPr lang="en-US" sz="3600" b="1" dirty="0">
              <a:solidFill>
                <a:srgbClr val="FF8D3E"/>
              </a:solidFill>
              <a:latin typeface="Arial" pitchFamily="34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736600" y="609600"/>
            <a:ext cx="8763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We wrote 10 Queries &amp; 10 Views that return the following results: </a:t>
            </a:r>
            <a:endParaRPr lang="en-US" sz="14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#1: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Customer account no, name, product type, amount due and Inv. due date.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#2: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“A” ser. plan type: customer account no, name, product type, ser. plan name and plan rate.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#3: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“B” ser. plan type: customer account no, name, product type, ser. plan name and plan rate.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#4: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“C” ser. plan type: customer account no, name, product type, ser. plan name and plan rate.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#5: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“D” ser. plan type: customer account no, name, product type, ser. plan name and plan rate.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#6: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Failed results customer account no, prod. Serial no, prod. Type, status, part name, part no, part avail and est. ser. date.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#7: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Passed results customer account no, prod. Serial no, prod. Type.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#8: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Customer info, prod. Info, ser. plan name and issue date.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#9: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Customer account no, name, product and ser. plan name (having more than one product). </a:t>
            </a:r>
          </a:p>
          <a:p>
            <a:pPr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Query #10: </a:t>
            </a:r>
          </a:p>
          <a:p>
            <a:pPr lvl="1" algn="just"/>
            <a:r>
              <a:rPr lang="en-US" sz="1400" b="1" dirty="0" smtClean="0">
                <a:latin typeface="Arial" pitchFamily="34" charset="0"/>
                <a:cs typeface="Arial" pitchFamily="34" charset="0"/>
              </a:rPr>
              <a:t>All F product info.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ctrTitle"/>
          </p:nvPr>
        </p:nvSpPr>
        <p:spPr>
          <a:xfrm>
            <a:off x="552450" y="5892800"/>
            <a:ext cx="9004300" cy="576263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3600" b="1" dirty="0" smtClean="0">
                <a:solidFill>
                  <a:srgbClr val="FF8D3E"/>
                </a:solidFill>
                <a:latin typeface="Arial" pitchFamily="34" charset="0"/>
              </a:rPr>
              <a:t>Forms were Designed</a:t>
            </a:r>
            <a:endParaRPr lang="en-US" sz="3600" b="1" dirty="0">
              <a:solidFill>
                <a:srgbClr val="FF8D3E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Pictu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600" y="381000"/>
            <a:ext cx="9144000" cy="6858000"/>
          </a:xfrm>
          <a:prstGeom prst="rect">
            <a:avLst/>
          </a:prstGeom>
        </p:spPr>
      </p:pic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041400" y="5588000"/>
            <a:ext cx="856615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smtClean="0">
                <a:solidFill>
                  <a:srgbClr val="FF8D3E"/>
                </a:solidFill>
                <a:latin typeface="Arial" pitchFamily="34" charset="0"/>
                <a:ea typeface="+mj-ea"/>
                <a:cs typeface="+mj-cs"/>
              </a:rPr>
              <a:t>SQL used to DESCRIBE each table</a:t>
            </a: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FF8D3E"/>
              </a:solidFill>
              <a:effectLst/>
              <a:uLnTx/>
              <a:uFillTx/>
              <a:latin typeface="Arial" pitchFamily="34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2400" y="1066800"/>
            <a:ext cx="7315200" cy="4437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 rot="10800000" flipV="1">
            <a:off x="2184400" y="3200400"/>
            <a:ext cx="762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6200000" flipV="1">
            <a:off x="2184400" y="1600200"/>
            <a:ext cx="9144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41600" y="2362200"/>
            <a:ext cx="294739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Describe Function</a:t>
            </a:r>
            <a:endParaRPr lang="en-US" sz="3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Pictu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5600" y="0"/>
            <a:ext cx="9144000" cy="7239000"/>
          </a:xfrm>
          <a:prstGeom prst="rect">
            <a:avLst/>
          </a:prstGeom>
        </p:spPr>
      </p:pic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1041400" y="5588000"/>
            <a:ext cx="856615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smtClean="0">
                <a:solidFill>
                  <a:srgbClr val="FF8D3E"/>
                </a:solidFill>
                <a:latin typeface="Arial" pitchFamily="34" charset="0"/>
                <a:ea typeface="+mj-ea"/>
                <a:cs typeface="+mj-cs"/>
              </a:rPr>
              <a:t>DESCRIBE each table (cont’d)</a:t>
            </a:r>
            <a:endParaRPr kumimoji="0" 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FF8D3E"/>
              </a:solidFill>
              <a:effectLst/>
              <a:uLnTx/>
              <a:uFillTx/>
              <a:latin typeface="Arial" pitchFamily="34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2400" y="609600"/>
            <a:ext cx="7010400" cy="512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 b="29342"/>
          <a:stretch>
            <a:fillRect/>
          </a:stretch>
        </p:blipFill>
        <p:spPr bwMode="auto">
          <a:xfrm>
            <a:off x="1117600" y="457200"/>
            <a:ext cx="8305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03250" y="5588000"/>
            <a:ext cx="9004300" cy="1068388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Executed SQL Query #1 to display customer account no, name, product type, amount due and Inv. due date.</a:t>
            </a:r>
            <a:endParaRPr lang="en-US" sz="2400" b="1" dirty="0">
              <a:solidFill>
                <a:srgbClr val="FF8D3E"/>
              </a:solidFill>
              <a:latin typeface="Arial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rot="10800000" flipV="1">
            <a:off x="2184400" y="3962400"/>
            <a:ext cx="1524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08400" y="3505200"/>
            <a:ext cx="289053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Calculation</a:t>
            </a:r>
            <a:endParaRPr lang="en-US" sz="36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508000" y="5334000"/>
            <a:ext cx="9004300" cy="1068388"/>
          </a:xfrm>
        </p:spPr>
        <p:txBody>
          <a:bodyPr lIns="0" tIns="0" rIns="0" bIns="0" anchor="b"/>
          <a:lstStyle/>
          <a:p>
            <a:pPr algn="l"/>
            <a:r>
              <a:rPr lang="en-US" sz="24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4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Executed Query #2 to display all “A” Service Plan: customer account no, name, product type, ser. plan name and plan rate.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3800" y="2057400"/>
            <a:ext cx="78867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rot="5400000">
            <a:off x="5728494" y="1866106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89400" y="914400"/>
            <a:ext cx="3886200" cy="646331"/>
          </a:xfrm>
          <a:prstGeom prst="rect">
            <a:avLst/>
          </a:prstGeom>
          <a:solidFill>
            <a:schemeClr val="accent3">
              <a:lumMod val="6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Pipe Join</a:t>
            </a:r>
            <a:endParaRPr lang="en-US" sz="3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60400" y="5486400"/>
            <a:ext cx="9004300" cy="1068388"/>
          </a:xfrm>
        </p:spPr>
        <p:txBody>
          <a:bodyPr lIns="0" tIns="0" rIns="0" bIns="0" anchor="b"/>
          <a:lstStyle/>
          <a:p>
            <a:pPr algn="l"/>
            <a:r>
              <a:rPr lang="en-US" sz="24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4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Executed Query #3 to display All “B” Service Plan: customer account no, name, product type, ser. plan name and plan rate.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3400" y="762000"/>
            <a:ext cx="6152123" cy="4939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ll dir="l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431800" y="5486400"/>
            <a:ext cx="9175750" cy="1068388"/>
          </a:xfrm>
        </p:spPr>
        <p:txBody>
          <a:bodyPr lIns="0" tIns="0" rIns="0" bIns="0" anchor="b"/>
          <a:lstStyle/>
          <a:p>
            <a:pPr algn="l"/>
            <a:r>
              <a:rPr lang="en-US" sz="24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400" b="1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 Executed Query #4 to display All “C” Service plan: customer account no, name, product type, ser. plan name and plan rate.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9600" y="914400"/>
            <a:ext cx="6276975" cy="4404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03250" y="5588000"/>
            <a:ext cx="9004300" cy="1068388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Executed Query #5 to display All “D” Service Plan: customer account no, name, product type, ser. plan name and plan rate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3800" y="685800"/>
            <a:ext cx="7877175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508000" y="4876800"/>
            <a:ext cx="9048750" cy="1981200"/>
          </a:xfrm>
        </p:spPr>
        <p:txBody>
          <a:bodyPr lIns="0" tIns="0" rIns="0" bIns="0" anchor="b"/>
          <a:lstStyle/>
          <a:p>
            <a:pPr algn="l"/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#6 – View </a:t>
            </a:r>
            <a:b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“F” result customer account no, prod. Serial no, prod. Type, status, part name, part no, part avail and est. ser. date.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>
              <a:solidFill>
                <a:srgbClr val="FF8D3E"/>
              </a:solidFill>
              <a:latin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 b="10389"/>
          <a:stretch>
            <a:fillRect/>
          </a:stretch>
        </p:blipFill>
        <p:spPr bwMode="auto">
          <a:xfrm>
            <a:off x="2489200" y="457200"/>
            <a:ext cx="6928172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55600" y="1524000"/>
            <a:ext cx="205740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Dates used here</a:t>
            </a:r>
            <a:endParaRPr lang="en-US" sz="54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10800000">
            <a:off x="4013200" y="12954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60400" y="6553200"/>
            <a:ext cx="8686800" cy="838200"/>
          </a:xfrm>
        </p:spPr>
        <p:txBody>
          <a:bodyPr lIns="0" tIns="0" rIns="0" bIns="0" anchor="b">
            <a:normAutofit fontScale="90000"/>
          </a:bodyPr>
          <a:lstStyle/>
          <a:p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Executed Query # 7 Displays all Passed results - customer account no, prod. Serial no, prod. Type. </a:t>
            </a:r>
            <a:b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>
              <a:solidFill>
                <a:srgbClr val="FF8D3E"/>
              </a:solidFill>
              <a:latin typeface="Arial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3400" y="609600"/>
            <a:ext cx="7593298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1117600" y="3657600"/>
            <a:ext cx="2819400" cy="2895600"/>
          </a:xfrm>
        </p:spPr>
        <p:txBody>
          <a:bodyPr lIns="0" tIns="0" rIns="0" bIns="0" anchor="b"/>
          <a:lstStyle/>
          <a:p>
            <a:pPr algn="l"/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Executed Query #8  </a:t>
            </a:r>
            <a:b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Shows customer info, prod. Info, </a:t>
            </a:r>
            <a:b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ser. plan name and issue date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 b="12879"/>
          <a:stretch>
            <a:fillRect/>
          </a:stretch>
        </p:blipFill>
        <p:spPr bwMode="auto">
          <a:xfrm>
            <a:off x="4241800" y="609600"/>
            <a:ext cx="5489677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ctrTitle"/>
          </p:nvPr>
        </p:nvSpPr>
        <p:spPr>
          <a:xfrm>
            <a:off x="584200" y="5410200"/>
            <a:ext cx="9004300" cy="1474788"/>
          </a:xfrm>
        </p:spPr>
        <p:txBody>
          <a:bodyPr lIns="0" tIns="0" rIns="0" bIns="0" anchor="b"/>
          <a:lstStyle/>
          <a:p>
            <a:pPr algn="l"/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/>
            </a:r>
            <a:b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</a:br>
            <a: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  <a:t>Query # 9 returns customer account no, name, product and ser. plan name (having more than one product) </a:t>
            </a:r>
            <a:br>
              <a:rPr lang="en-US" sz="2400" b="1" dirty="0" smtClean="0">
                <a:solidFill>
                  <a:srgbClr val="FF8D3E"/>
                </a:solidFill>
                <a:latin typeface="Arial" pitchFamily="34" charset="0"/>
              </a:rPr>
            </a:br>
            <a:endParaRPr lang="en-US" sz="2400" b="1" dirty="0" smtClean="0">
              <a:solidFill>
                <a:srgbClr val="FF8D3E"/>
              </a:solidFill>
              <a:latin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5800" y="533400"/>
            <a:ext cx="79629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rot="5400000" flipH="1" flipV="1">
            <a:off x="7023100" y="17907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 flipH="1" flipV="1">
            <a:off x="3251200" y="21336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98800" y="2209800"/>
            <a:ext cx="191590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Count Function</a:t>
            </a:r>
            <a:endParaRPr lang="en-US" sz="2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15706" y="2057400"/>
            <a:ext cx="274389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Group By Function</a:t>
            </a:r>
            <a:endParaRPr lang="en-US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ctrTitle"/>
          </p:nvPr>
        </p:nvSpPr>
        <p:spPr>
          <a:xfrm>
            <a:off x="603250" y="5588000"/>
            <a:ext cx="9004300" cy="1068388"/>
          </a:xfrm>
        </p:spPr>
        <p:txBody>
          <a:bodyPr lIns="0" tIns="0" rIns="0" bIns="0" anchor="b"/>
          <a:lstStyle/>
          <a:p>
            <a:pPr algn="l">
              <a:lnSpc>
                <a:spcPct val="95000"/>
              </a:lnSpc>
            </a:pPr>
            <a:r>
              <a:rPr lang="en-US" sz="4000" b="1" dirty="0" smtClean="0">
                <a:solidFill>
                  <a:srgbClr val="FF8D3E"/>
                </a:solidFill>
                <a:latin typeface="Arial" pitchFamily="34" charset="0"/>
              </a:rPr>
              <a:t>Query # 10 </a:t>
            </a:r>
            <a:br>
              <a:rPr lang="en-US" sz="4000" b="1" dirty="0" smtClean="0">
                <a:solidFill>
                  <a:srgbClr val="FF8D3E"/>
                </a:solidFill>
                <a:latin typeface="Arial" pitchFamily="34" charset="0"/>
              </a:rPr>
            </a:br>
            <a:r>
              <a:rPr lang="en-US" sz="4000" b="1" dirty="0" smtClean="0">
                <a:solidFill>
                  <a:srgbClr val="FF8D3E"/>
                </a:solidFill>
                <a:latin typeface="Arial" pitchFamily="34" charset="0"/>
              </a:rPr>
              <a:t>Returns all Failed Product Info </a:t>
            </a:r>
            <a:endParaRPr lang="en-US" sz="4000" b="1" dirty="0">
              <a:solidFill>
                <a:srgbClr val="FF8D3E"/>
              </a:solidFill>
              <a:latin typeface="Arial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0938" y="2443163"/>
            <a:ext cx="78581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ctrTitle"/>
          </p:nvPr>
        </p:nvSpPr>
        <p:spPr>
          <a:xfrm>
            <a:off x="1727200" y="762000"/>
            <a:ext cx="7010400" cy="4572000"/>
          </a:xfrm>
        </p:spPr>
        <p:txBody>
          <a:bodyPr lIns="0" tIns="0" rIns="0" bIns="0" anchor="b"/>
          <a:lstStyle/>
          <a:p>
            <a:pPr>
              <a:lnSpc>
                <a:spcPct val="95000"/>
              </a:lnSpc>
            </a:pPr>
            <a:r>
              <a:rPr lang="en-US" sz="3600" b="1" dirty="0" smtClean="0">
                <a:solidFill>
                  <a:schemeClr val="tx1"/>
                </a:solidFill>
                <a:latin typeface="Arial" pitchFamily="34" charset="0"/>
              </a:rPr>
              <a:t>Our </a:t>
            </a:r>
            <a:r>
              <a:rPr lang="en-US" sz="3600" b="1" dirty="0" smtClean="0">
                <a:solidFill>
                  <a:srgbClr val="FF8D3E"/>
                </a:solidFill>
                <a:latin typeface="Arial" pitchFamily="34" charset="0"/>
              </a:rPr>
              <a:t>Database </a:t>
            </a:r>
            <a:r>
              <a:rPr lang="en-US" sz="3600" b="1" dirty="0" smtClean="0">
                <a:solidFill>
                  <a:schemeClr val="tx1"/>
                </a:solidFill>
                <a:latin typeface="Arial" pitchFamily="34" charset="0"/>
              </a:rPr>
              <a:t>and </a:t>
            </a:r>
            <a:r>
              <a:rPr lang="en-US" sz="3600" b="1" dirty="0" smtClean="0">
                <a:solidFill>
                  <a:srgbClr val="FF8D3E"/>
                </a:solidFill>
                <a:latin typeface="Arial" pitchFamily="34" charset="0"/>
              </a:rPr>
              <a:t>SQL Queries</a:t>
            </a:r>
            <a:r>
              <a:rPr lang="en-US" sz="3600" b="1" dirty="0" smtClean="0">
                <a:solidFill>
                  <a:schemeClr val="tx1"/>
                </a:solidFill>
                <a:latin typeface="Arial" pitchFamily="34" charset="0"/>
              </a:rPr>
              <a:t> allow Appliance Warranty and Diagnostic information to be easily accessed and utilized to support a growing business need.</a:t>
            </a:r>
            <a:endParaRPr lang="en-US" sz="3200" b="1" dirty="0">
              <a:solidFill>
                <a:schemeClr val="tx1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ctrTitle"/>
          </p:nvPr>
        </p:nvSpPr>
        <p:spPr>
          <a:xfrm>
            <a:off x="795338" y="2073275"/>
            <a:ext cx="8650287" cy="1931988"/>
          </a:xfrm>
        </p:spPr>
        <p:txBody>
          <a:bodyPr lIns="0" tIns="0" rIns="0" bIns="0" anchor="b"/>
          <a:lstStyle/>
          <a:p>
            <a:pPr algn="r">
              <a:lnSpc>
                <a:spcPct val="95000"/>
              </a:lnSpc>
            </a:pPr>
            <a:r>
              <a:rPr lang="en-US" sz="5000" b="1">
                <a:solidFill>
                  <a:srgbClr val="FF8D3E"/>
                </a:solidFill>
                <a:latin typeface="Arial" pitchFamily="34" charset="0"/>
              </a:rPr>
              <a:t>The End 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947738" y="4092575"/>
            <a:ext cx="8447087" cy="2800350"/>
          </a:xfrm>
        </p:spPr>
        <p:txBody>
          <a:bodyPr lIns="0" tIns="0" rIns="0" bIns="0"/>
          <a:lstStyle/>
          <a:p>
            <a:pPr algn="r">
              <a:lnSpc>
                <a:spcPct val="95000"/>
              </a:lnSpc>
              <a:spcBef>
                <a:spcPct val="0"/>
              </a:spcBef>
            </a:pPr>
            <a:r>
              <a:rPr lang="en-US" sz="6000">
                <a:solidFill>
                  <a:srgbClr val="79766F"/>
                </a:solidFill>
                <a:latin typeface="Arial" pitchFamily="34" charset="0"/>
              </a:rPr>
              <a:t>Thank</a:t>
            </a:r>
            <a:r>
              <a:rPr lang="en-US" sz="2200">
                <a:solidFill>
                  <a:srgbClr val="79766F"/>
                </a:solidFill>
                <a:latin typeface="Arial" pitchFamily="34" charset="0"/>
              </a:rPr>
              <a:t> </a:t>
            </a:r>
            <a:r>
              <a:rPr lang="en-US" sz="6000">
                <a:solidFill>
                  <a:srgbClr val="79766F"/>
                </a:solidFill>
                <a:latin typeface="Arial" pitchFamily="34" charset="0"/>
              </a:rPr>
              <a:t>you</a:t>
            </a:r>
            <a:r>
              <a:rPr lang="en-US" sz="2200">
                <a:solidFill>
                  <a:srgbClr val="79766F"/>
                </a:solidFill>
                <a:latin typeface="Arial" pitchFamily="34" charset="0"/>
              </a:rPr>
              <a:t>!</a:t>
            </a: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803</TotalTime>
  <Words>511</Words>
  <Application>Microsoft Office PowerPoint</Application>
  <PresentationFormat>Custom</PresentationFormat>
  <Paragraphs>65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Default Design</vt:lpstr>
      <vt:lpstr>Warranty &amp; Diagnostic Service </vt:lpstr>
      <vt:lpstr>Warranty &amp; Diagnostic ERD</vt:lpstr>
      <vt:lpstr>Warranty &amp; Diagnostic Introduction</vt:lpstr>
      <vt:lpstr>10 Queries were Designed &amp; Written</vt:lpstr>
      <vt:lpstr>Forms were Designed</vt:lpstr>
      <vt:lpstr>Slide 6</vt:lpstr>
      <vt:lpstr>Slide 7</vt:lpstr>
      <vt:lpstr>Executed SQL Query #1 to display customer account no, name, product type, amount due and Inv. due date.</vt:lpstr>
      <vt:lpstr> Executed Query #2 to display all “A” Service Plan: customer account no, name, product type, ser. plan name and plan rate. </vt:lpstr>
      <vt:lpstr> Executed Query #3 to display All “B” Service Plan: customer account no, name, product type, ser. plan name and plan rate. </vt:lpstr>
      <vt:lpstr>  Executed Query #4 to display All “C” Service plan: customer account no, name, product type, ser. plan name and plan rate. </vt:lpstr>
      <vt:lpstr>Executed Query #5 to display All “D” Service Plan: customer account no, name, product type, ser. plan name and plan rate </vt:lpstr>
      <vt:lpstr>#6 – View  “F” result customer account no, prod. Serial no, prod. Type, status, part name, part no, part avail and est. ser. date.  </vt:lpstr>
      <vt:lpstr>Executed Query # 7 Displays all Passed results - customer account no, prod. Serial no, prod. Type.   </vt:lpstr>
      <vt:lpstr>Executed Query #8   Shows customer info, prod. Info,  ser. plan name and issue date </vt:lpstr>
      <vt:lpstr> Query # 9 returns customer account no, name, product and ser. plan name (having more than one product)  </vt:lpstr>
      <vt:lpstr>Query # 10  Returns all Failed Product Info </vt:lpstr>
      <vt:lpstr>Our Database and SQL Queries allow Appliance Warranty and Diagnostic information to be easily accessed and utilized to support a growing business need.</vt:lpstr>
      <vt:lpstr>The End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</dc:creator>
  <cp:lastModifiedBy>Josie Pizzolato</cp:lastModifiedBy>
  <cp:revision>52</cp:revision>
  <dcterms:created xsi:type="dcterms:W3CDTF">2004-05-06T09:28:21Z</dcterms:created>
  <dcterms:modified xsi:type="dcterms:W3CDTF">2010-04-28T04:07:54Z</dcterms:modified>
</cp:coreProperties>
</file>